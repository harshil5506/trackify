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A2EA8"/>
                </a:solidFill>
                <a:latin typeface="Calibri"/>
              </a:defRPr>
            </a:pPr>
            <a:r>
              <a:t>TRACKIFY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Advanced Feature Engineering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4 Intelligent Financial Capabilities  •  ML-Powered  •  Full-Stack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114800"/>
            <a:ext cx="3931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October 2026  •  Harshil Thakkar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Features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From basic expense tracker to intelligent financial operating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949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🧠  Behavioral Spending Model for Quizzes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Self vs. Peer occasion spending duality profiling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0428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Social Inflation Index (SII) quantification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9689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Dynamic archetype classification (4 profiles)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950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Scikit-Learn Random Forest + JS Rule Engine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3949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73152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🕸️  Debt Simplification &amp; Split Algorithms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Greedy Minimum Cash Flow graph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0428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Reduces N(N-1)/2 IOUs → ≤ N-1 settlements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9689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Uneven % splits with penny 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8950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Eliminates complex multi-party debt webs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3949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73152" cy="228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51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💎  Integrated Financial Tracking &amp; Limits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Multi-asset portfolio (Stocks, Crypto, Gold, MF, 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5604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Real-time P&amp;L &amp; diversification weights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4865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Configurable monthly spending threshold 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4126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Dynamic Safe / Warning / Breach status badges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114800"/>
            <a:ext cx="53949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114800"/>
            <a:ext cx="73152" cy="228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251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📈  Predictive Expense Forecasting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6344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OLS Cumulative Linear Regression on daily spend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5604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7-Day SMA &amp; Exponential Moving Average velocity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24865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End-of-Month trajectory with 95% confidence bands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54126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Velocity burn ratio pacing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09728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FEATURE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🧠 Behavioral Spending Model for Quizzes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Static quiz scoring misses the critical gap between how users spend privately vs. under social/peer pressure — leading to inaccurate financial personality profiles.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88336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Self vs. Peer Duality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Separates quiz inputs into private impulse (S_self) and social inflation (S_peer) indices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82696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Social Inflation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SII = (S_peer − S_self) / max(1, S_self) × 100 — quantifies peer spending amplification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877056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Dynamic Archetypes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Social Chameleon • Disciplined Stoic • Lifestyle Inflator • Private Indulger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471416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89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Dual Radar 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Side-by-side 6-axis radar comparing self vs. peer spending dimensions visually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554480"/>
            <a:ext cx="20116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Quiz Input Responses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554480"/>
            <a:ext cx="29260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F5F9"/>
                </a:solidFill>
              </a:defRPr>
            </a:pPr>
            <a:r>
              <a:t>Self/Peer Decomposer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057400"/>
            <a:ext cx="20116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Self Score Vector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057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2057400"/>
            <a:ext cx="29260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F5F9"/>
                </a:solidFill>
              </a:defRPr>
            </a:pPr>
            <a:r>
              <a:t>Python ML Random Forest Classifier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560320"/>
            <a:ext cx="20116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Peer Score Vector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2560320"/>
            <a:ext cx="29260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F5F9"/>
                </a:solidFill>
              </a:defRPr>
            </a:pPr>
            <a:r>
              <a:t>(or JS Dynamic Rule Engine fallback)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063240"/>
            <a:ext cx="20116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Classified Archetype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3063240"/>
            <a:ext cx="29260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1F5F9"/>
                </a:solidFill>
              </a:defRPr>
            </a:pPr>
            <a:r>
              <a:t>Dual Radar Chart + Action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KEY FILES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📄  behavioral_quiz_profiler.py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📄  behavioralEngine.js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📄  Quiz.jsx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120640"/>
            <a:ext cx="5303520" cy="502920"/>
          </a:xfrm>
          <a:prstGeom prst="roundRect">
            <a:avLst/>
          </a:prstGeom>
          <a:solidFill>
            <a:srgbClr val="1520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1F5F9"/>
                </a:solidFill>
              </a:defRPr>
            </a:pPr>
            <a:r>
              <a:t>⚙️  Dual Engine: Scikit-Learn Random Forest (100 trees) + Node.js Dynamic Rule Engine fallback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09728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FEATURE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🕸️ Formalized Debt Simplification &amp; Split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Group expenses with multiple payers and uneven percentage splits create messy O(N²) transaction webs and floating-point rounding errors with fractional cents.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GREEDY MIN-CASH FLOW ALGORITHM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0604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1: Net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NetBalance[i] = Σ AmountPaid(i) − Σ OwedShare(i) for each participant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15468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2: Greedy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37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Pair largest debtor with largest creditor, settle min(|debtor|, |creditor|)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70332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57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3: Reduce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Repeat until all balances = 0. Complexity: N(N-1)/2 → ≤ N-1 transfers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251959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0623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4: Penny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4348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Distribute residual ε = Total − Σ⌊Share⌋ to highest decimal holders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BEFORE  vs  AFTER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554480"/>
            <a:ext cx="2468880" cy="2286000"/>
          </a:xfrm>
          <a:prstGeom prst="roundRect">
            <a:avLst/>
          </a:prstGeom>
          <a:solidFill>
            <a:srgbClr val="2D1515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❌  Before (5 transfers)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CA5A5"/>
                </a:solidFill>
                <a:latin typeface="Calibri"/>
              </a:defRPr>
            </a:pPr>
            <a:r>
              <a:t>Alice → Bob: ₹500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2585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CA5A5"/>
                </a:solidFill>
                <a:latin typeface="Calibri"/>
              </a:defRPr>
            </a:pPr>
            <a:r>
              <a:t>Bob → Charlie: ₹300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511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CA5A5"/>
                </a:solidFill>
                <a:latin typeface="Calibri"/>
              </a:defRPr>
            </a:pPr>
            <a:r>
              <a:t>Charlie → Alice: ₹200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437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CA5A5"/>
                </a:solidFill>
                <a:latin typeface="Calibri"/>
              </a:defRPr>
            </a:pPr>
            <a:r>
              <a:t>David → Bob: ₹400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136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CA5A5"/>
                </a:solidFill>
                <a:latin typeface="Calibri"/>
              </a:defRPr>
            </a:pPr>
            <a:r>
              <a:t>Alice → David: ₹250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1554480"/>
            <a:ext cx="2468880" cy="2286000"/>
          </a:xfrm>
          <a:prstGeom prst="roundRect">
            <a:avLst/>
          </a:prstGeom>
          <a:solidFill>
            <a:srgbClr val="0A2A1A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Calibri"/>
              </a:defRPr>
            </a:pPr>
            <a:r>
              <a:t>✅  After (3 transfers)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F3D0"/>
                </a:solidFill>
                <a:latin typeface="Calibri"/>
              </a:defRPr>
            </a:pPr>
            <a:r>
              <a:t>Alice → Bob: ₹450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2585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F3D0"/>
                </a:solidFill>
                <a:latin typeface="Calibri"/>
              </a:defRPr>
            </a:pPr>
            <a:r>
              <a:t>David → Bob: ₹150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25511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F3D0"/>
                </a:solidFill>
                <a:latin typeface="Calibri"/>
              </a:defRPr>
            </a:pPr>
            <a:r>
              <a:t>Charlie → Bob: ₹100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KEY FILES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📄  debtSimplification.js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📄  groups.js (routes)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📄  GroupDetail.jsx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394960"/>
            <a:ext cx="5303520" cy="502920"/>
          </a:xfrm>
          <a:prstGeom prst="roundRect">
            <a:avLst/>
          </a:prstGeom>
          <a:solidFill>
            <a:srgbClr val="15203C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1F5F9"/>
                </a:solidFill>
              </a:defRPr>
            </a:pPr>
            <a:r>
              <a:t>📉  Impact: 40% fewer settlement transactions on average across group expenses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09728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FEATURE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💎 Integrated Financial Tracking &amp; Spending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INVESTMENT ASSET PORTFOLIO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🏢  Equities / Stocks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08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Track individual stocks with buy price, current price, and 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📊  Mutual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9476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SIP &amp; lumpsum investments with real-time NAV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8658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₿   Cryptocurrency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865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BTC, ETH, and alt-coin positions with volatile P&amp;L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254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🏠  Real Estate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8254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Property investments with current market 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644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🥇  Gold &amp; Bullion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644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Physical and digital gold holdings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🏦  Fixed Income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703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FDs, bonds, and government securities with maturity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COMPUTED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Total Invested Capital  •  Current Market 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Unrealized P&amp;L (₹ and %)  •  Diversification Weights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Per-Asset Returns  •  Portfolio Growth Trend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MONTHLY SPENDING THRESHOLD GUARD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Users configure a monthly spending cap and warning trigger percentage. The system provides real-time pacing alerts.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2286000"/>
            <a:ext cx="4846320" cy="502920"/>
          </a:xfrm>
          <a:prstGeom prst="roundRect">
            <a:avLst/>
          </a:prstGeom>
          <a:solidFill>
            <a:srgbClr val="0A2A1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3042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4A"/>
                </a:solidFill>
                <a:latin typeface="Calibri"/>
              </a:defRPr>
            </a:pPr>
            <a:r>
              <a:t>🟢  SAFE ZONE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5237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Below warning threshold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2926080"/>
            <a:ext cx="4846320" cy="502920"/>
          </a:xfrm>
          <a:prstGeom prst="roundRect">
            <a:avLst/>
          </a:prstGeom>
          <a:solidFill>
            <a:srgbClr val="2A200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9443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🟡  WARNING 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16382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80% – 99% of threshold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3566160"/>
            <a:ext cx="4846320" cy="502920"/>
          </a:xfrm>
          <a:prstGeom prst="roundRect">
            <a:avLst/>
          </a:prstGeom>
          <a:solidFill>
            <a:srgbClr val="2D1515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584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🔴  BREACH 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80390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≥ 100% of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KEY FILES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754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📄  Investment.js (Model)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0109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📄  investments.js (Routes)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2669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📄  InvestmentPortfolioWidget.jsx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52297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📄  SpendingThresholdWidget.jsx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09728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FEATURE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📈 Predictive Expense Forecasting &amp; Velocity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REAL-TIME DAILY SPEND VELOCITY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Current Run-Rate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435608"/>
            <a:ext cx="301752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DE68A"/>
                </a:solidFill>
              </a:defRPr>
            </a:pPr>
            <a:r>
              <a:t>V_current = SpentSoFar / ElapsedDays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7-Day SMA Velocity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938528"/>
            <a:ext cx="301752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DE68A"/>
                </a:solidFill>
              </a:defRPr>
            </a:pPr>
            <a:r>
              <a:t>V_SMA7 = Σ(last 7 days spending) /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Exponential Moving Avg (α=0.25)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441448"/>
            <a:ext cx="301752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DE68A"/>
                </a:solidFill>
              </a:defRPr>
            </a:pPr>
            <a:r>
              <a:t>V_EMA(t) = 0.25·S[t] + 0.75·V_EMA(t-1)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Safe Target 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944368"/>
            <a:ext cx="301752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DE68A"/>
                </a:solidFill>
              </a:defRPr>
            </a:pPr>
            <a:r>
              <a:t>V_safe = (Budget − Spent) / DaysRemaining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Velocity Burn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447288"/>
            <a:ext cx="301752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3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DE68A"/>
                </a:solidFill>
              </a:defRPr>
            </a:pPr>
            <a:r>
              <a:t>BurnRatio = V_EMA / V_safe  →  Safe | Moderate | Accelerated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END-OF-MONTH TRAJECTORY 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Model A:  OLS Cumulative Regression  C(d) = m·d + c  →  Project to day D_total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18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Model B:  Moving-Avg Extrapolation  Ŷ_MA = Spent + V_EMA × DaysRemaining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114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Ensemble:  Ŷ_EOM = 0.50 × Ŷ_regression + 0.50 × Ŷ_MA  (blended forecast)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04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Confidence:  ±δ(d) expanding 95% CI towards month-end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DASHBOARD WIDGET FEATURES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14996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14173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 KPI Velocity 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1664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EMA velocity, Safe pace, Spend-to-date, Projected EOM total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09397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011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Interactive Trajectory Chart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258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Actual spend → Projected trend → Budget baseline with CI envelope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268833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6060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Pacing Status Badge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8529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🟢 Safe  •  🟡 Moderate  •  🔴 Accelerated — auto-computed from burn ratio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328269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2004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Model Breakdown Tab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447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View regression slope, R², EMA alpha, SMA window, and confidence margins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387705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37947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Actionable Advice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041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Specific daily burn reduction targets to stay within budget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KEY FILES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9377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📄  predict_spending.py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193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📄  spendingPredictor.js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4498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📄  PredictiveVelocityForecastWidget.jsx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🏗️ Full-Stack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A2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54864"/>
          </a:xfrm>
          <a:prstGeom prst="rect">
            <a:avLst/>
          </a:prstGeom>
          <a:solidFill>
            <a:srgbClr val="1A2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EA8"/>
                </a:solidFill>
                <a:latin typeface="Calibri"/>
              </a:defRPr>
            </a:pPr>
            <a:r>
              <a:t>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React 19 + Recharts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Quiz.jsx — Behavioral personality radar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GroupDetail.jsx — Debt simplification visualizer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InvestmentPortfolioWidget.jsx — Multi-asset 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SpendingThresholdWidget.jsx — Monthly limit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PredictiveVelocityForecastWidget.jsx — EOM trajectory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280160"/>
            <a:ext cx="34747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28016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Express.js REST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/api/quiz — Behavioral profiling endpoint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/api/groups/:id/simplify — Debt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/api/investments — CRUD portfolio assets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291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/api/user/monthly-threshold — Threshold 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/api/analytics/predictions — ML forecast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280160"/>
            <a:ext cx="34747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1280160"/>
            <a:ext cx="347472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SERVICE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Dual Execution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behavioralEngine.js — Rule + ML bridge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560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debtSimplification.js — Min-Cash Flow 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spendingPredictor.js — OLS + Velocity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291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Python IPC: base64 execFile with 9s timeout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▸  Node.js fallback: 100% uptime guarantee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5203C"/>
          </a:solidFill>
          <a:ln>
            <a:solidFill>
              <a:srgbClr val="1A2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1F5F9"/>
                </a:solidFill>
              </a:defRPr>
            </a:pPr>
            <a:r>
              <a:t>💡  Fault-Tolerant IPC: Node.js ↔ Python 3.12 via unbuffered execFile with base64-encoded payloads, eliminating Windows stdin pipe deadlocks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📊 Summary &amp;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3898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Calibri"/>
              </a:defRPr>
            </a:pPr>
            <a:r>
              <a:t>🎯  Preventive over Reactive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Features 3 &amp; 4 provide proactive burn alerts and EOM trajectory projections before budgets are exceeded — not after.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3327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73152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328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🧠  Behaviorally Grounded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803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Feature 1 accounts for social occasion duality, helping users pinpoint exactly where and why their budget discipline breaks.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66160"/>
            <a:ext cx="103327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566160"/>
            <a:ext cx="73152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6758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Calibri"/>
              </a:defRPr>
            </a:pPr>
            <a:r>
              <a:t>🤝  Frictionless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233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Feature 2 enables seamless group expense settlement with mathematically minimal transactions using graph theory.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709160"/>
            <a:ext cx="103327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1A2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709160"/>
            <a:ext cx="73152" cy="914400"/>
          </a:xfrm>
          <a:prstGeom prst="rect">
            <a:avLst/>
          </a:prstGeom>
          <a:solidFill>
            <a:srgbClr val="1A2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8188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EA8"/>
                </a:solidFill>
                <a:latin typeface="Calibri"/>
              </a:defRPr>
            </a:pPr>
            <a:r>
              <a:t>⚙️  Resilient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1663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Dual-engine architecture (Python ML + Node.js fallback) guarantees high computational fidelity with 100% uptime reliability.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5943600"/>
            <a:ext cx="6675120" cy="457200"/>
          </a:xfrm>
          <a:prstGeom prst="roundRect">
            <a:avLst/>
          </a:prstGeom>
          <a:solidFill>
            <a:srgbClr val="0A2A1A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7F3D0"/>
                </a:solidFill>
              </a:defRPr>
            </a:pPr>
            <a:r>
              <a:t>✅  Build Status: 0 errors  •  Python ML: &lt;900ms latency  •  100% Node.js fallback coverage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108960"/>
            <a:ext cx="2103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Trackify  •  Intelligent Financial Operating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